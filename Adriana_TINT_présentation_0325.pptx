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8" r:id="rId3"/>
    <p:sldId id="294" r:id="rId4"/>
    <p:sldId id="260" r:id="rId5"/>
    <p:sldId id="267" r:id="rId6"/>
    <p:sldId id="261" r:id="rId7"/>
    <p:sldId id="286" r:id="rId8"/>
    <p:sldId id="285" r:id="rId9"/>
    <p:sldId id="262" r:id="rId10"/>
    <p:sldId id="263" r:id="rId11"/>
    <p:sldId id="295" r:id="rId12"/>
    <p:sldId id="265" r:id="rId13"/>
    <p:sldId id="289" r:id="rId14"/>
    <p:sldId id="287" r:id="rId15"/>
    <p:sldId id="264" r:id="rId16"/>
    <p:sldId id="274" r:id="rId17"/>
    <p:sldId id="290" r:id="rId18"/>
    <p:sldId id="271" r:id="rId19"/>
    <p:sldId id="270" r:id="rId20"/>
    <p:sldId id="269" r:id="rId21"/>
    <p:sldId id="296" r:id="rId22"/>
    <p:sldId id="297" r:id="rId23"/>
    <p:sldId id="298" r:id="rId24"/>
    <p:sldId id="299" r:id="rId25"/>
    <p:sldId id="276" r:id="rId26"/>
    <p:sldId id="300" r:id="rId27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200"/>
    <a:srgbClr val="879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0" autoAdjust="0"/>
    <p:restoredTop sz="81269" autoAdjust="0"/>
  </p:normalViewPr>
  <p:slideViewPr>
    <p:cSldViewPr>
      <p:cViewPr varScale="1">
        <p:scale>
          <a:sx n="95" d="100"/>
          <a:sy n="95" d="100"/>
        </p:scale>
        <p:origin x="2092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3553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553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53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553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EE61041-6AD0-4912-8908-DC5410FF3F22}" type="slidenum">
              <a:rPr lang="en-US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129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48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296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319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12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16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286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350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657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651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538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166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57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1752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574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7891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9989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02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784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336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843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4968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243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71775" y="2852738"/>
            <a:ext cx="6048375" cy="750887"/>
          </a:xfrm>
        </p:spPr>
        <p:txBody>
          <a:bodyPr/>
          <a:lstStyle>
            <a:lvl1pPr algn="r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71775" y="3573463"/>
            <a:ext cx="6048375" cy="503237"/>
          </a:xfrm>
        </p:spPr>
        <p:txBody>
          <a:bodyPr/>
          <a:lstStyle>
            <a:lvl1pPr marL="0" indent="0" algn="r">
              <a:buFontTx/>
              <a:buNone/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331913" y="1341438"/>
            <a:ext cx="374015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24463" y="1341438"/>
            <a:ext cx="374015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056438" y="688975"/>
            <a:ext cx="1908175" cy="59086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331913" y="688975"/>
            <a:ext cx="5572125" cy="59086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688975"/>
            <a:ext cx="76327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1913" y="1341438"/>
            <a:ext cx="7632700" cy="525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0"/>
            <a:r>
              <a:rPr lang="ru-RU"/>
              <a:t>Third level</a:t>
            </a:r>
          </a:p>
          <a:p>
            <a:pPr lvl="1"/>
            <a:r>
              <a:rPr lang="ru-RU"/>
              <a:t>Fourth level</a:t>
            </a:r>
          </a:p>
          <a:p>
            <a:pPr lvl="2"/>
            <a:r>
              <a:rPr lang="ru-RU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.jpe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260648"/>
            <a:ext cx="5616624" cy="1296144"/>
          </a:xfrm>
          <a:noFill/>
        </p:spPr>
        <p:txBody>
          <a:bodyPr/>
          <a:lstStyle/>
          <a:p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Tahoma" charset="0"/>
              </a:rPr>
              <a:t>Anticipez les besoins en consommation de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Tahoma" charset="0"/>
              </a:rPr>
              <a:t>bâtiments</a:t>
            </a:r>
            <a:b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Tahoma" charset="0"/>
              </a:rPr>
            </a:b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Tahoma" charset="0"/>
              </a:rPr>
              <a:t>Projet 4</a:t>
            </a:r>
            <a:endParaRPr lang="uk-UA" dirty="0">
              <a:solidFill>
                <a:schemeClr val="accent2">
                  <a:lumMod val="50000"/>
                </a:schemeClr>
              </a:solidFill>
              <a:latin typeface="Tahoma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434647" y="6237312"/>
            <a:ext cx="2232248" cy="43204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dirty="0" smtClean="0"/>
              <a:t>Adriana TINT</a:t>
            </a:r>
            <a:endParaRPr lang="uk-UA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C14E4A8-AF2B-64FA-5E1D-0612E2410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217639"/>
            <a:ext cx="2789191" cy="11231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7475"/>
            <a:ext cx="7056438" cy="719138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SOMMAIRE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idx="1"/>
          </p:nvPr>
        </p:nvSpPr>
        <p:spPr>
          <a:xfrm>
            <a:off x="614129" y="1268760"/>
            <a:ext cx="7128792" cy="3455466"/>
          </a:xfrm>
        </p:spPr>
        <p:txBody>
          <a:bodyPr/>
          <a:lstStyle/>
          <a:p>
            <a:r>
              <a:rPr lang="fr-FR" sz="2000" dirty="0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Problématique</a:t>
            </a:r>
            <a:endParaRPr lang="fr-FR" sz="20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fr-FR" sz="2000" dirty="0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Présentation du jeu de données</a:t>
            </a:r>
            <a:endParaRPr lang="fr-FR" sz="20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fr-FR" sz="2000" dirty="0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Nettoyage des données et feature engineering</a:t>
            </a:r>
            <a:endParaRPr lang="fr-FR" sz="20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dirty="0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Analyses exploratoire</a:t>
            </a:r>
            <a:endParaRPr lang="en-US" sz="20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Consommation d'énergie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Consommation de CO²</a:t>
            </a:r>
          </a:p>
          <a:p>
            <a:pPr marL="400050"/>
            <a:r>
              <a:rPr lang="en-US" sz="2000" dirty="0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Predictions </a:t>
            </a:r>
            <a:r>
              <a:rPr lang="en-US" sz="2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la consommation d’énergie</a:t>
            </a:r>
          </a:p>
          <a:p>
            <a:pPr marL="400050"/>
            <a:r>
              <a:rPr lang="en-US" sz="2000" b="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Predictions de la consommation de </a:t>
            </a:r>
            <a:r>
              <a:rPr lang="en-US" sz="2000" b="0" dirty="0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C0²</a:t>
            </a:r>
          </a:p>
          <a:p>
            <a:pPr marL="400050"/>
            <a:r>
              <a:rPr lang="en-US" sz="2000" dirty="0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2000" b="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 smtClean="0"/>
              <a:t>1. Problématique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31913" y="1700808"/>
            <a:ext cx="7632700" cy="3887762"/>
          </a:xfrm>
        </p:spPr>
        <p:txBody>
          <a:bodyPr/>
          <a:lstStyle/>
          <a:p>
            <a:r>
              <a:rPr lang="fr-FR" sz="1800" dirty="0" smtClean="0"/>
              <a:t>Etude de la consommation et des émissions de </a:t>
            </a:r>
            <a:r>
              <a:rPr lang="fr-FR" sz="1800" dirty="0" err="1" smtClean="0"/>
              <a:t>gas</a:t>
            </a:r>
            <a:r>
              <a:rPr lang="fr-FR" sz="1800" dirty="0" smtClean="0"/>
              <a:t> des </a:t>
            </a:r>
            <a:r>
              <a:rPr lang="fr-FR" sz="1800" dirty="0" err="1" smtClean="0"/>
              <a:t>batîments</a:t>
            </a:r>
            <a:r>
              <a:rPr lang="fr-FR" sz="1800" dirty="0" smtClean="0"/>
              <a:t> non destinés à l’habitation pour la ville de Seattle.</a:t>
            </a:r>
          </a:p>
          <a:p>
            <a:endParaRPr lang="fr-FR" sz="1800" dirty="0"/>
          </a:p>
          <a:p>
            <a:r>
              <a:rPr lang="fr-FR" sz="1800" dirty="0" smtClean="0"/>
              <a:t>L’objectif est de se passer des relevés de consommation annuels futurs</a:t>
            </a:r>
          </a:p>
          <a:p>
            <a:endParaRPr lang="fr-FR" sz="18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b="0" i="1" dirty="0" smtClean="0">
                <a:solidFill>
                  <a:srgbClr val="7450ED"/>
                </a:solidFill>
                <a:latin typeface="Georgia" pitchFamily="18"/>
              </a:rPr>
              <a:t>Prédire </a:t>
            </a:r>
            <a:r>
              <a:rPr lang="fr-FR" sz="1800" b="0" i="1" dirty="0">
                <a:solidFill>
                  <a:srgbClr val="7450ED"/>
                </a:solidFill>
                <a:latin typeface="Georgia" pitchFamily="18"/>
              </a:rPr>
              <a:t>les émissions de CO2 et la consommation totale d’énergie de bâtiments non destinés à </a:t>
            </a:r>
            <a:r>
              <a:rPr lang="fr-FR" sz="1800" b="0" i="1" dirty="0" smtClean="0">
                <a:solidFill>
                  <a:srgbClr val="7450ED"/>
                </a:solidFill>
                <a:latin typeface="Georgia" pitchFamily="18"/>
              </a:rPr>
              <a:t>l’habitation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1800" b="0" i="1" dirty="0">
              <a:solidFill>
                <a:srgbClr val="7450ED"/>
              </a:solidFill>
              <a:latin typeface="Georgia" pitchFamily="18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b="0" i="1" dirty="0">
                <a:solidFill>
                  <a:srgbClr val="7450ED"/>
                </a:solidFill>
                <a:latin typeface="Georgia" pitchFamily="18"/>
              </a:rPr>
              <a:t>Evaluer l’intérêt de l’</a:t>
            </a:r>
            <a:r>
              <a:rPr lang="fr-FR" sz="1800" b="0" i="1" dirty="0" err="1">
                <a:solidFill>
                  <a:srgbClr val="7450ED"/>
                </a:solidFill>
                <a:latin typeface="Georgia" pitchFamily="18"/>
              </a:rPr>
              <a:t>EnergyStarScore</a:t>
            </a:r>
            <a:r>
              <a:rPr lang="fr-FR" sz="1800" b="0" i="1" dirty="0">
                <a:solidFill>
                  <a:srgbClr val="7450ED"/>
                </a:solidFill>
                <a:latin typeface="Georgia" pitchFamily="18"/>
              </a:rPr>
              <a:t> pour la prédiction d’émissions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1800" b="0" i="1" dirty="0">
              <a:solidFill>
                <a:srgbClr val="7450ED"/>
              </a:solidFill>
              <a:latin typeface="Georgia" pitchFamily="18"/>
            </a:endParaRPr>
          </a:p>
          <a:p>
            <a:pPr lvl="1"/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63999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D6199FD-11C8-55D1-D40E-0EF4C9EB2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44624"/>
            <a:ext cx="7056438" cy="719138"/>
          </a:xfrm>
        </p:spPr>
        <p:txBody>
          <a:bodyPr/>
          <a:lstStyle/>
          <a:p>
            <a:pPr algn="ctr"/>
            <a:r>
              <a:rPr lang="fr-FR" sz="2800" dirty="0" smtClean="0"/>
              <a:t>2. Présentation du jeu de données</a:t>
            </a:r>
            <a:endParaRPr lang="fr-FR" sz="28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763762"/>
            <a:ext cx="2353003" cy="5611008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673" y="908720"/>
            <a:ext cx="5805645" cy="309634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6016" y="4005064"/>
            <a:ext cx="2879974" cy="2629945"/>
          </a:xfrm>
          <a:prstGeom prst="rect">
            <a:avLst/>
          </a:prstGeom>
          <a:ln>
            <a:noFill/>
          </a:ln>
        </p:spPr>
      </p:pic>
      <p:sp>
        <p:nvSpPr>
          <p:cNvPr id="9" name="ZoneTexte 8"/>
          <p:cNvSpPr txBox="1"/>
          <p:nvPr/>
        </p:nvSpPr>
        <p:spPr>
          <a:xfrm>
            <a:off x="827583" y="4662646"/>
            <a:ext cx="2353003" cy="123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fr-FR" sz="200" dirty="0"/>
          </a:p>
        </p:txBody>
      </p:sp>
      <p:sp>
        <p:nvSpPr>
          <p:cNvPr id="10" name="ZoneTexte 9"/>
          <p:cNvSpPr txBox="1"/>
          <p:nvPr/>
        </p:nvSpPr>
        <p:spPr>
          <a:xfrm>
            <a:off x="827582" y="5395597"/>
            <a:ext cx="2353003" cy="123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fr-FR" sz="200" dirty="0"/>
          </a:p>
        </p:txBody>
      </p:sp>
      <p:sp>
        <p:nvSpPr>
          <p:cNvPr id="11" name="ZoneTexte 10"/>
          <p:cNvSpPr txBox="1"/>
          <p:nvPr/>
        </p:nvSpPr>
        <p:spPr>
          <a:xfrm>
            <a:off x="832348" y="3360630"/>
            <a:ext cx="2353003" cy="123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fr-FR" sz="200" dirty="0"/>
          </a:p>
        </p:txBody>
      </p:sp>
    </p:spTree>
    <p:extLst>
      <p:ext uri="{BB962C8B-B14F-4D97-AF65-F5344CB8AC3E}">
        <p14:creationId xmlns:p14="http://schemas.microsoft.com/office/powerpoint/2010/main" val="206303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11560" y="980728"/>
            <a:ext cx="45590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qualitatives : </a:t>
            </a:r>
            <a:r>
              <a:rPr lang="fr-FR" sz="20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Building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576" y="188640"/>
            <a:ext cx="67649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solidFill>
                  <a:schemeClr val="accent1">
                    <a:lumMod val="75000"/>
                  </a:schemeClr>
                </a:solidFill>
              </a:rPr>
              <a:t>2. Présentation 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</a:rPr>
              <a:t>du jeu de </a:t>
            </a:r>
            <a:r>
              <a:rPr lang="fr-FR" sz="2800" dirty="0" smtClean="0">
                <a:solidFill>
                  <a:schemeClr val="accent1">
                    <a:lumMod val="75000"/>
                  </a:schemeClr>
                </a:solidFill>
              </a:rPr>
              <a:t>données (suite)</a:t>
            </a:r>
            <a:endParaRPr lang="fr-FR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25" y="1649707"/>
            <a:ext cx="3631643" cy="257138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1649706"/>
            <a:ext cx="3597369" cy="25666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07046" y="4632230"/>
            <a:ext cx="40190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Suppression de 50,59% des données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1640" y="5301208"/>
            <a:ext cx="71287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Compliant</a:t>
            </a:r>
            <a:r>
              <a:rPr lang="fr-FR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Status</a:t>
            </a:r>
            <a:r>
              <a:rPr lang="fr-FR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lang="fr-FR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Suppression des bâtiments ‘Non </a:t>
            </a:r>
            <a:r>
              <a:rPr lang="fr-FR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Compliant</a:t>
            </a:r>
            <a:r>
              <a:rPr lang="fr-FR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 </a:t>
            </a:r>
          </a:p>
          <a:p>
            <a:r>
              <a:rPr lang="fr-FR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     et </a:t>
            </a:r>
            <a:r>
              <a:rPr lang="fr-FR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Error</a:t>
            </a:r>
            <a:r>
              <a:rPr lang="fr-FR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Correct Default Data  </a:t>
            </a:r>
            <a:endParaRPr lang="fr-FR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7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260648"/>
            <a:ext cx="7776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qualitatives : </a:t>
            </a:r>
            <a:r>
              <a:rPr lang="fr-FR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PropertyType</a:t>
            </a:r>
            <a:r>
              <a:rPr lang="fr-FR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</a:t>
            </a:r>
            <a:r>
              <a:rPr lang="fr-FR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UseType</a:t>
            </a:r>
            <a:r>
              <a:rPr lang="fr-FR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avant </a:t>
            </a:r>
            <a:r>
              <a:rPr lang="fr-FR" b="1" dirty="0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transformation</a:t>
            </a:r>
            <a:endParaRPr lang="fr-FR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170096"/>
            <a:ext cx="2621701" cy="197674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960" y="1196752"/>
            <a:ext cx="4312070" cy="192343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29" y="3713614"/>
            <a:ext cx="4192153" cy="271325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4882" y="3868426"/>
            <a:ext cx="3660913" cy="240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93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29088A6-EC52-242F-ECC5-F7445EC62352}"/>
              </a:ext>
            </a:extLst>
          </p:cNvPr>
          <p:cNvSpPr txBox="1"/>
          <p:nvPr/>
        </p:nvSpPr>
        <p:spPr>
          <a:xfrm>
            <a:off x="611560" y="811411"/>
            <a:ext cx="5796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quantitatives : </a:t>
            </a:r>
            <a:r>
              <a:rPr lang="fr-FR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TypeGFA</a:t>
            </a:r>
            <a:endParaRPr lang="fr-FR" b="1" i="0" dirty="0">
              <a:solidFill>
                <a:schemeClr val="bg2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FD4CE2-FD8A-5055-1521-BAFB2A923F3E}"/>
              </a:ext>
            </a:extLst>
          </p:cNvPr>
          <p:cNvSpPr txBox="1"/>
          <p:nvPr/>
        </p:nvSpPr>
        <p:spPr>
          <a:xfrm>
            <a:off x="611560" y="1125376"/>
            <a:ext cx="763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PropertyGFATotal</a:t>
            </a:r>
            <a:r>
              <a:rPr lang="fr-FR" dirty="0"/>
              <a:t> = </a:t>
            </a:r>
            <a:r>
              <a:rPr lang="fr-FR" b="1" dirty="0" err="1"/>
              <a:t>PropertyGFAParking</a:t>
            </a:r>
            <a:r>
              <a:rPr lang="fr-FR" dirty="0"/>
              <a:t> + </a:t>
            </a:r>
            <a:r>
              <a:rPr lang="fr-FR" b="1" dirty="0" err="1">
                <a:solidFill>
                  <a:srgbClr val="EAB200"/>
                </a:solidFill>
              </a:rPr>
              <a:t>PropertyGFABuilding</a:t>
            </a:r>
            <a:r>
              <a:rPr lang="fr-FR" b="1" dirty="0">
                <a:solidFill>
                  <a:srgbClr val="EAB200"/>
                </a:solidFill>
              </a:rPr>
              <a:t>(s)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584DEC5-33EC-7378-F063-27D7FD1C50F6}"/>
              </a:ext>
            </a:extLst>
          </p:cNvPr>
          <p:cNvSpPr txBox="1"/>
          <p:nvPr/>
        </p:nvSpPr>
        <p:spPr>
          <a:xfrm>
            <a:off x="611560" y="1525810"/>
            <a:ext cx="79928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solidFill>
                  <a:srgbClr val="FFC000"/>
                </a:solidFill>
              </a:rPr>
              <a:t>PropertyGFABuilding</a:t>
            </a:r>
            <a:r>
              <a:rPr lang="fr-FR" b="1" dirty="0">
                <a:solidFill>
                  <a:srgbClr val="FFC000"/>
                </a:solidFill>
              </a:rPr>
              <a:t>(s)</a:t>
            </a:r>
            <a:r>
              <a:rPr lang="fr-FR" dirty="0">
                <a:solidFill>
                  <a:srgbClr val="FFC000"/>
                </a:solidFill>
              </a:rPr>
              <a:t> </a:t>
            </a:r>
            <a:r>
              <a:rPr lang="fr-FR" dirty="0"/>
              <a:t>= </a:t>
            </a:r>
            <a:r>
              <a:rPr lang="fr-FR" b="1" dirty="0"/>
              <a:t> </a:t>
            </a:r>
            <a:r>
              <a:rPr lang="fr-FR" b="1" dirty="0" err="1"/>
              <a:t>LargestPropertyUseTypeGFA</a:t>
            </a:r>
            <a:r>
              <a:rPr lang="fr-FR" b="1" dirty="0"/>
              <a:t>  					</a:t>
            </a:r>
          </a:p>
          <a:p>
            <a:r>
              <a:rPr lang="fr-FR" b="1" dirty="0"/>
              <a:t>		               </a:t>
            </a:r>
            <a:r>
              <a:rPr lang="fr-FR" dirty="0"/>
              <a:t>+</a:t>
            </a:r>
            <a:r>
              <a:rPr lang="fr-FR" b="1" dirty="0"/>
              <a:t> </a:t>
            </a:r>
            <a:r>
              <a:rPr lang="fr-FR" b="1" dirty="0" err="1"/>
              <a:t>SecondLargestPropertyUseTypeGFA</a:t>
            </a:r>
            <a:endParaRPr lang="fr-FR" b="1" dirty="0"/>
          </a:p>
          <a:p>
            <a:endParaRPr lang="fr-FR" b="1" dirty="0"/>
          </a:p>
          <a:p>
            <a:r>
              <a:rPr lang="fr-FR" b="1" dirty="0"/>
              <a:t>			</a:t>
            </a:r>
            <a:r>
              <a:rPr lang="fr-FR" dirty="0"/>
              <a:t>+ </a:t>
            </a:r>
            <a:r>
              <a:rPr lang="fr-FR" b="1" dirty="0" err="1"/>
              <a:t>ThirdLargestPropertyUseTypeGFA</a:t>
            </a:r>
            <a:endParaRPr lang="fr-FR" b="1" dirty="0"/>
          </a:p>
        </p:txBody>
      </p:sp>
      <p:sp>
        <p:nvSpPr>
          <p:cNvPr id="2" name="Rectangle 1"/>
          <p:cNvSpPr/>
          <p:nvPr/>
        </p:nvSpPr>
        <p:spPr>
          <a:xfrm>
            <a:off x="611560" y="221375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3. 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Nettoyage des données et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576" y="3142605"/>
            <a:ext cx="60486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AutoNum type="alphaLcParenR"/>
            </a:pPr>
            <a:r>
              <a:rPr lang="fr-FR" dirty="0" smtClean="0">
                <a:solidFill>
                  <a:schemeClr val="accent1">
                    <a:lumMod val="75000"/>
                  </a:schemeClr>
                </a:solidFill>
                <a:latin typeface="Georgia" pitchFamily="18"/>
              </a:rPr>
              <a:t>Nettoyage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Georgia" pitchFamily="18"/>
              </a:rPr>
              <a:t>des 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  <a:latin typeface="Georgia" pitchFamily="18"/>
              </a:rPr>
              <a:t>données</a:t>
            </a:r>
          </a:p>
          <a:p>
            <a:pPr lvl="0"/>
            <a:endParaRPr lang="fr-FR" dirty="0" smtClean="0">
              <a:latin typeface="Georgia" pitchFamily="18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Georgia" pitchFamily="18"/>
              </a:rPr>
              <a:t>Suppression </a:t>
            </a:r>
            <a:r>
              <a:rPr lang="fr-FR" dirty="0">
                <a:latin typeface="Georgia" pitchFamily="18"/>
              </a:rPr>
              <a:t>des lignes dupliquées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Georgia" pitchFamily="18"/>
                <a:sym typeface="Wingdings" panose="05000000000000000000" pitchFamily="2" charset="2"/>
              </a:rPr>
              <a:t>Suppression des bâtiments destinés à l’habitation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Georgia" pitchFamily="18"/>
                <a:sym typeface="Wingdings" panose="05000000000000000000" pitchFamily="2" charset="2"/>
              </a:rPr>
              <a:t>Suppression des variables inutilisées/redondantes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Georgia" pitchFamily="18"/>
                <a:sym typeface="Wingdings" panose="05000000000000000000" pitchFamily="2" charset="2"/>
              </a:rPr>
              <a:t>Suppression des bâtiments ‘</a:t>
            </a:r>
            <a:r>
              <a:rPr lang="fr-FR" dirty="0" err="1">
                <a:latin typeface="Georgia" pitchFamily="18"/>
                <a:sym typeface="Wingdings" panose="05000000000000000000" pitchFamily="2" charset="2"/>
              </a:rPr>
              <a:t>Outlier</a:t>
            </a:r>
            <a:r>
              <a:rPr lang="fr-FR" dirty="0">
                <a:latin typeface="Georgia" pitchFamily="18"/>
                <a:sym typeface="Wingdings" panose="05000000000000000000" pitchFamily="2" charset="2"/>
              </a:rPr>
              <a:t>’/’</a:t>
            </a:r>
            <a:r>
              <a:rPr lang="fr-FR" dirty="0" err="1">
                <a:latin typeface="Georgia" pitchFamily="18"/>
                <a:sym typeface="Wingdings" panose="05000000000000000000" pitchFamily="2" charset="2"/>
              </a:rPr>
              <a:t>DefaultData</a:t>
            </a:r>
            <a:r>
              <a:rPr lang="fr-FR" dirty="0">
                <a:latin typeface="Georgia" pitchFamily="18"/>
                <a:sym typeface="Wingdings" panose="05000000000000000000" pitchFamily="2" charset="2"/>
              </a:rPr>
              <a:t>’/ non ‘</a:t>
            </a:r>
            <a:r>
              <a:rPr lang="fr-FR" dirty="0" err="1">
                <a:latin typeface="Georgia" pitchFamily="18"/>
                <a:sym typeface="Wingdings" panose="05000000000000000000" pitchFamily="2" charset="2"/>
              </a:rPr>
              <a:t>Compliant</a:t>
            </a:r>
            <a:r>
              <a:rPr lang="fr-FR" dirty="0">
                <a:latin typeface="Georgia" pitchFamily="18"/>
                <a:sym typeface="Wingdings" panose="05000000000000000000" pitchFamily="2" charset="2"/>
              </a:rPr>
              <a:t>’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latin typeface="Georgia" pitchFamily="18"/>
                <a:sym typeface="Wingdings" panose="05000000000000000000" pitchFamily="2" charset="2"/>
              </a:rPr>
              <a:t>Suppression des valeurs aberrantes</a:t>
            </a:r>
            <a:endParaRPr lang="fr-FR" dirty="0">
              <a:latin typeface="Georgia" panose="02040502050405020303" pitchFamily="18" charset="0"/>
              <a:sym typeface="Wingdings" panose="05000000000000000000" pitchFamily="2" charset="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04248" y="4415938"/>
            <a:ext cx="16289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3376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  </a:t>
            </a:r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1548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749801" y="5689271"/>
            <a:ext cx="7507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b) Imputation des valeurs manquantes par déduction pour les colonnes: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1A4143A-B9DF-7ED7-63B9-B632303F5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720" y="6125419"/>
            <a:ext cx="4248472" cy="45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332656"/>
            <a:ext cx="4176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. Analyse exploratoire</a:t>
            </a:r>
            <a:endParaRPr lang="fr-FR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1052736"/>
            <a:ext cx="3535303" cy="3198607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15" y="4459357"/>
            <a:ext cx="4601601" cy="38346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128" y="1052736"/>
            <a:ext cx="2648320" cy="461074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9632" y="5949280"/>
            <a:ext cx="6601746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5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78676" y="404664"/>
            <a:ext cx="66176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accent1">
                    <a:lumMod val="75000"/>
                  </a:schemeClr>
                </a:solidFill>
              </a:rPr>
              <a:t>4. Analyse </a:t>
            </a:r>
            <a:r>
              <a:rPr lang="fr-FR" sz="2800" dirty="0" smtClean="0">
                <a:solidFill>
                  <a:schemeClr val="accent1">
                    <a:lumMod val="75000"/>
                  </a:schemeClr>
                </a:solidFill>
              </a:rPr>
              <a:t>exploratoire (suite)</a:t>
            </a:r>
            <a:endParaRPr lang="fr-FR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74976" y="1026796"/>
            <a:ext cx="7225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Création d’une nouvelle colonne pour regrouper les bâtiment par âge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997" y="1396128"/>
            <a:ext cx="5399011" cy="228879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4976" y="3869592"/>
            <a:ext cx="8073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Création d’une </a:t>
            </a:r>
            <a:r>
              <a:rPr lang="fr-FR" b="1" dirty="0"/>
              <a:t>nouvelle colonne pour regrouper </a:t>
            </a:r>
            <a:r>
              <a:rPr lang="fr-FR" b="1" dirty="0" smtClean="0"/>
              <a:t>les catégorie d’adresses</a:t>
            </a:r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286" y="4380422"/>
            <a:ext cx="3888432" cy="229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0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141" y="877746"/>
            <a:ext cx="5616624" cy="5137156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686" y="6178755"/>
            <a:ext cx="4715533" cy="2286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1317" y="204124"/>
            <a:ext cx="49241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accent1">
                    <a:lumMod val="75000"/>
                  </a:schemeClr>
                </a:solidFill>
              </a:rPr>
              <a:t>4. Analyse exploratoire </a:t>
            </a:r>
            <a:r>
              <a:rPr lang="fr-FR" sz="2800" dirty="0" smtClean="0">
                <a:solidFill>
                  <a:schemeClr val="accent1">
                    <a:lumMod val="75000"/>
                  </a:schemeClr>
                </a:solidFill>
              </a:rPr>
              <a:t>(suite)</a:t>
            </a:r>
            <a:endParaRPr lang="fr-FR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41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51317" y="204124"/>
            <a:ext cx="49241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accent1">
                    <a:lumMod val="75000"/>
                  </a:schemeClr>
                </a:solidFill>
              </a:rPr>
              <a:t>4. Analyse exploratoire </a:t>
            </a:r>
            <a:r>
              <a:rPr lang="fr-FR" sz="2800" dirty="0" smtClean="0">
                <a:solidFill>
                  <a:schemeClr val="accent1">
                    <a:lumMod val="75000"/>
                  </a:schemeClr>
                </a:solidFill>
              </a:rPr>
              <a:t>(suite)</a:t>
            </a:r>
            <a:endParaRPr lang="fr-FR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755576" y="873439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Colonne </a:t>
            </a:r>
            <a:r>
              <a:rPr lang="fr-FR" b="1" dirty="0" err="1" smtClean="0"/>
              <a:t>EnergyStarsScore</a:t>
            </a:r>
            <a:endParaRPr lang="fr-FR" b="1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48" y="1340768"/>
            <a:ext cx="2799536" cy="208823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74" y="3563717"/>
            <a:ext cx="3312368" cy="20228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1242771"/>
            <a:ext cx="3462297" cy="245863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748" y="4026788"/>
            <a:ext cx="4377736" cy="249836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748" y="6525155"/>
            <a:ext cx="1905266" cy="152421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6404" y="4365104"/>
            <a:ext cx="3533177" cy="1272671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1561" y="6021288"/>
            <a:ext cx="3562847" cy="16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3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B16B747-B9C0-64AA-A965-B63D5EB2BCC7}"/>
              </a:ext>
            </a:extLst>
          </p:cNvPr>
          <p:cNvSpPr txBox="1"/>
          <p:nvPr/>
        </p:nvSpPr>
        <p:spPr>
          <a:xfrm>
            <a:off x="611560" y="1166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quantitatives :</a:t>
            </a:r>
            <a:endParaRPr lang="fr-FR" sz="2400" b="1" i="0" dirty="0">
              <a:solidFill>
                <a:schemeClr val="bg2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620688"/>
            <a:ext cx="6056415" cy="606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8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29088A6-EC52-242F-ECC5-F7445EC62352}"/>
              </a:ext>
            </a:extLst>
          </p:cNvPr>
          <p:cNvSpPr txBox="1"/>
          <p:nvPr/>
        </p:nvSpPr>
        <p:spPr>
          <a:xfrm>
            <a:off x="720080" y="116633"/>
            <a:ext cx="8028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quantitatives : </a:t>
            </a:r>
            <a:r>
              <a:rPr lang="fr-FR" sz="2400" b="1" dirty="0" err="1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kBtu</a:t>
            </a:r>
            <a:r>
              <a:rPr lang="fr-FR" sz="2400" b="1" dirty="0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2400" dirty="0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transformé en proportion</a:t>
            </a:r>
            <a:endParaRPr lang="fr-FR" sz="2400" i="0" dirty="0">
              <a:solidFill>
                <a:schemeClr val="bg2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96" y="754417"/>
            <a:ext cx="5157191" cy="5018744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320" y="5929808"/>
            <a:ext cx="6477904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6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29088A6-EC52-242F-ECC5-F7445EC62352}"/>
              </a:ext>
            </a:extLst>
          </p:cNvPr>
          <p:cNvSpPr txBox="1"/>
          <p:nvPr/>
        </p:nvSpPr>
        <p:spPr>
          <a:xfrm>
            <a:off x="720080" y="116632"/>
            <a:ext cx="7884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qualitatives : </a:t>
            </a:r>
            <a:r>
              <a:rPr lang="fr-FR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PropertyType</a:t>
            </a:r>
            <a:r>
              <a:rPr lang="fr-FR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</a:t>
            </a:r>
            <a:r>
              <a:rPr lang="fr-FR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UseType</a:t>
            </a:r>
            <a:r>
              <a:rPr lang="fr-FR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après transformation</a:t>
            </a:r>
          </a:p>
          <a:p>
            <a:r>
              <a:rPr lang="fr-FR" b="1" i="0" dirty="0">
                <a:solidFill>
                  <a:schemeClr val="bg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762963"/>
            <a:ext cx="3403984" cy="282199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923" y="762963"/>
            <a:ext cx="3544525" cy="263980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80" y="3812104"/>
            <a:ext cx="3586133" cy="276988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853" y="3890691"/>
            <a:ext cx="3748351" cy="261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57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D6199FD-11C8-55D1-D40E-0EF4C9EB2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11669"/>
            <a:ext cx="7056438" cy="719138"/>
          </a:xfrm>
        </p:spPr>
        <p:txBody>
          <a:bodyPr/>
          <a:lstStyle/>
          <a:p>
            <a:r>
              <a:rPr lang="fr-F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Analyses bivariées :  Consommation d'énergie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071" y="908720"/>
            <a:ext cx="5953400" cy="577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7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5ED190E-87D2-77C8-958B-3055492EC3B7}"/>
              </a:ext>
            </a:extLst>
          </p:cNvPr>
          <p:cNvSpPr txBox="1"/>
          <p:nvPr/>
        </p:nvSpPr>
        <p:spPr>
          <a:xfrm>
            <a:off x="683568" y="116632"/>
            <a:ext cx="6624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Analyses bivariées :  Consommation de CO²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028" y="692696"/>
            <a:ext cx="5974916" cy="604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6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473042" y="135486"/>
            <a:ext cx="6200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5. Modélisation 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de </a:t>
            </a:r>
            <a:r>
              <a:rPr lang="fr-FR" sz="2800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SiteEnergyUseWN</a:t>
            </a:r>
            <a:endParaRPr lang="fr-FR" sz="28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190" y="1561749"/>
            <a:ext cx="4896544" cy="2597636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636467" y="1090753"/>
            <a:ext cx="803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Evaluation des </a:t>
            </a:r>
            <a:r>
              <a:rPr lang="fr-FR" dirty="0" err="1" smtClean="0"/>
              <a:t>models</a:t>
            </a:r>
            <a:r>
              <a:rPr lang="fr-FR" dirty="0" smtClean="0"/>
              <a:t> avant optimisation sans la variable </a:t>
            </a:r>
            <a:r>
              <a:rPr lang="fr-FR" dirty="0" err="1" smtClean="0"/>
              <a:t>EnergyStarsScore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6772" y="682442"/>
            <a:ext cx="5065813" cy="30664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6467" y="4191107"/>
            <a:ext cx="8208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Evaluation des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smtClean="0"/>
              <a:t>après </a:t>
            </a:r>
            <a:r>
              <a:rPr lang="fr-FR" dirty="0"/>
              <a:t>optimisation </a:t>
            </a:r>
            <a:r>
              <a:rPr lang="fr-FR" dirty="0" smtClean="0"/>
              <a:t>avec </a:t>
            </a:r>
            <a:r>
              <a:rPr lang="fr-FR" dirty="0" err="1" smtClean="0"/>
              <a:t>GridSearch</a:t>
            </a:r>
            <a:r>
              <a:rPr lang="fr-FR" dirty="0" smtClean="0"/>
              <a:t> sans </a:t>
            </a:r>
            <a:r>
              <a:rPr lang="fr-FR" dirty="0"/>
              <a:t>la variable </a:t>
            </a:r>
            <a:r>
              <a:rPr lang="fr-FR" dirty="0" err="1"/>
              <a:t>EnergyStarsScore</a:t>
            </a:r>
            <a:endParaRPr lang="fr-FR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832" y="4725144"/>
            <a:ext cx="3535497" cy="185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6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5576" y="260648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Evaluation des </a:t>
            </a:r>
            <a:r>
              <a:rPr lang="fr-FR" dirty="0" err="1"/>
              <a:t>models</a:t>
            </a:r>
            <a:r>
              <a:rPr lang="fr-FR" dirty="0"/>
              <a:t> avant optimisation </a:t>
            </a:r>
            <a:r>
              <a:rPr lang="fr-FR" dirty="0" smtClean="0"/>
              <a:t>avec </a:t>
            </a:r>
            <a:r>
              <a:rPr lang="fr-FR" dirty="0"/>
              <a:t>la variable </a:t>
            </a:r>
            <a:r>
              <a:rPr lang="fr-FR" dirty="0" err="1"/>
              <a:t>EnergyStarsScore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836712"/>
            <a:ext cx="4480183" cy="25017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5576" y="3545199"/>
            <a:ext cx="80648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Evaluation des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smtClean="0"/>
              <a:t>après </a:t>
            </a:r>
            <a:r>
              <a:rPr lang="fr-FR" dirty="0"/>
              <a:t>optimisation avec </a:t>
            </a:r>
            <a:r>
              <a:rPr lang="fr-FR" dirty="0" err="1"/>
              <a:t>avec</a:t>
            </a:r>
            <a:r>
              <a:rPr lang="fr-FR" dirty="0"/>
              <a:t> </a:t>
            </a:r>
            <a:r>
              <a:rPr lang="fr-FR" dirty="0" err="1"/>
              <a:t>GridSearch</a:t>
            </a:r>
            <a:r>
              <a:rPr lang="fr-FR" dirty="0"/>
              <a:t> </a:t>
            </a:r>
            <a:r>
              <a:rPr lang="fr-FR" dirty="0" smtClean="0"/>
              <a:t>et la </a:t>
            </a:r>
            <a:r>
              <a:rPr lang="fr-FR" dirty="0"/>
              <a:t>variable </a:t>
            </a:r>
            <a:r>
              <a:rPr lang="fr-FR" dirty="0" err="1"/>
              <a:t>EnergyStarsScore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752" y="4226797"/>
            <a:ext cx="4608512" cy="234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98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D6199FD-11C8-55D1-D40E-0EF4C9EB2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8424590" cy="504056"/>
          </a:xfrm>
        </p:spPr>
        <p:txBody>
          <a:bodyPr/>
          <a:lstStyle/>
          <a:p>
            <a:r>
              <a:rPr lang="fr-FR" sz="2800" dirty="0" smtClean="0">
                <a:solidFill>
                  <a:schemeClr val="accent1">
                    <a:lumMod val="75000"/>
                  </a:schemeClr>
                </a:solidFill>
              </a:rPr>
              <a:t>5. Modélisation 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</a:rPr>
              <a:t>de </a:t>
            </a:r>
            <a:r>
              <a:rPr lang="fr-FR" sz="2800" dirty="0" err="1">
                <a:solidFill>
                  <a:schemeClr val="accent1">
                    <a:lumMod val="75000"/>
                  </a:schemeClr>
                </a:solidFill>
              </a:rPr>
              <a:t>SiteEnergyUseWN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fr-FR" sz="2800" dirty="0" err="1">
                <a:solidFill>
                  <a:schemeClr val="accent1">
                    <a:lumMod val="75000"/>
                  </a:schemeClr>
                </a:solidFill>
              </a:rPr>
              <a:t>kBtu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fr-FR" sz="2800" dirty="0">
              <a:solidFill>
                <a:schemeClr val="accent1">
                  <a:lumMod val="75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192935" y="747158"/>
            <a:ext cx="2758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Avec Feature importance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27" y="1657367"/>
            <a:ext cx="3997871" cy="267084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656" y="1327440"/>
            <a:ext cx="2531222" cy="23767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8" y="2965191"/>
            <a:ext cx="4067995" cy="242965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080" y="2469389"/>
            <a:ext cx="2657846" cy="247685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1818" y="6048309"/>
            <a:ext cx="3820058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0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D6199FD-11C8-55D1-D40E-0EF4C9EB2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5112568" cy="476672"/>
          </a:xfrm>
        </p:spPr>
        <p:txBody>
          <a:bodyPr/>
          <a:lstStyle/>
          <a:p>
            <a:r>
              <a:rPr lang="fr-FR" sz="2000" dirty="0" smtClean="0">
                <a:solidFill>
                  <a:schemeClr val="accent1">
                    <a:lumMod val="75000"/>
                  </a:schemeClr>
                </a:solidFill>
              </a:rPr>
              <a:t>5. 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Modélisation de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SiteEnergyUseWN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kBtu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fr-FR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779912" y="622343"/>
            <a:ext cx="1385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Avec SHAP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" y="1057351"/>
            <a:ext cx="5143485" cy="2808312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104" y="2708920"/>
            <a:ext cx="3303716" cy="388486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5696" y="3939675"/>
            <a:ext cx="2041798" cy="2797528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5652120" y="1057351"/>
            <a:ext cx="34804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J’affiche ici les résultats sans la</a:t>
            </a:r>
          </a:p>
          <a:p>
            <a:r>
              <a:rPr lang="fr-FR" dirty="0" smtClean="0"/>
              <a:t>Variable </a:t>
            </a:r>
            <a:r>
              <a:rPr lang="fr-FR" dirty="0" err="1" smtClean="0"/>
              <a:t>Outlier</a:t>
            </a:r>
            <a:r>
              <a:rPr lang="fr-FR" dirty="0" smtClean="0"/>
              <a:t> qui me donne </a:t>
            </a:r>
          </a:p>
          <a:p>
            <a:r>
              <a:rPr lang="fr-FR" dirty="0" smtClean="0"/>
              <a:t>des résultats moins bons que si </a:t>
            </a:r>
          </a:p>
          <a:p>
            <a:r>
              <a:rPr lang="fr-FR" dirty="0" smtClean="0"/>
              <a:t>je la garde.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756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473042" y="135486"/>
            <a:ext cx="641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6</a:t>
            </a:r>
            <a:r>
              <a:rPr lang="fr-FR" sz="2800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. Modélisation 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de </a:t>
            </a:r>
            <a:r>
              <a:rPr lang="fr-FR" sz="2800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TotalGHGEmissions</a:t>
            </a:r>
            <a:endParaRPr lang="fr-FR" sz="28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636467" y="1090753"/>
            <a:ext cx="803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Evaluation des </a:t>
            </a:r>
            <a:r>
              <a:rPr lang="fr-FR" dirty="0" err="1" smtClean="0"/>
              <a:t>models</a:t>
            </a:r>
            <a:r>
              <a:rPr lang="fr-FR" dirty="0" smtClean="0"/>
              <a:t> avant optimisation sans la variable </a:t>
            </a:r>
            <a:r>
              <a:rPr lang="fr-FR" dirty="0" err="1" smtClean="0"/>
              <a:t>EnergyStarsScore</a:t>
            </a:r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671560" y="3933056"/>
            <a:ext cx="8208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Evaluation des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smtClean="0"/>
              <a:t>après </a:t>
            </a:r>
            <a:r>
              <a:rPr lang="fr-FR" dirty="0"/>
              <a:t>optimisation </a:t>
            </a:r>
            <a:r>
              <a:rPr lang="fr-FR" dirty="0" smtClean="0"/>
              <a:t>avec </a:t>
            </a:r>
            <a:r>
              <a:rPr lang="fr-FR" dirty="0" err="1" smtClean="0"/>
              <a:t>GridSearch</a:t>
            </a:r>
            <a:r>
              <a:rPr lang="fr-FR" dirty="0" smtClean="0"/>
              <a:t> sans </a:t>
            </a:r>
            <a:r>
              <a:rPr lang="fr-FR" dirty="0"/>
              <a:t>la variable </a:t>
            </a:r>
            <a:r>
              <a:rPr lang="fr-FR" dirty="0" err="1"/>
              <a:t>EnergyStarsScore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991" y="728939"/>
            <a:ext cx="4910229" cy="29158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776" y="1514099"/>
            <a:ext cx="3953427" cy="223868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423" y="4579387"/>
            <a:ext cx="3911364" cy="206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1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5576" y="260648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Evaluation des </a:t>
            </a:r>
            <a:r>
              <a:rPr lang="fr-FR" dirty="0" err="1"/>
              <a:t>models</a:t>
            </a:r>
            <a:r>
              <a:rPr lang="fr-FR" dirty="0"/>
              <a:t> avant optimisation </a:t>
            </a:r>
            <a:r>
              <a:rPr lang="fr-FR" dirty="0" smtClean="0"/>
              <a:t>avec </a:t>
            </a:r>
            <a:r>
              <a:rPr lang="fr-FR" dirty="0"/>
              <a:t>la variable </a:t>
            </a:r>
            <a:r>
              <a:rPr lang="fr-FR" dirty="0" err="1"/>
              <a:t>EnergyStarsScore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755576" y="3545199"/>
            <a:ext cx="80648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Evaluation des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smtClean="0"/>
              <a:t>après </a:t>
            </a:r>
            <a:r>
              <a:rPr lang="fr-FR" dirty="0"/>
              <a:t>optimisation avec </a:t>
            </a:r>
            <a:r>
              <a:rPr lang="fr-FR" dirty="0" err="1"/>
              <a:t>avec</a:t>
            </a:r>
            <a:r>
              <a:rPr lang="fr-FR" dirty="0"/>
              <a:t> </a:t>
            </a:r>
            <a:r>
              <a:rPr lang="fr-FR" dirty="0" err="1"/>
              <a:t>GridSearch</a:t>
            </a:r>
            <a:r>
              <a:rPr lang="fr-FR" dirty="0"/>
              <a:t> </a:t>
            </a:r>
            <a:r>
              <a:rPr lang="fr-FR" dirty="0" smtClean="0"/>
              <a:t>et la </a:t>
            </a:r>
            <a:r>
              <a:rPr lang="fr-FR" dirty="0"/>
              <a:t>variable </a:t>
            </a:r>
            <a:r>
              <a:rPr lang="fr-FR" dirty="0" err="1"/>
              <a:t>EnergyStarsScore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836712"/>
            <a:ext cx="4321199" cy="244827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784" y="4451745"/>
            <a:ext cx="4503947" cy="207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6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D6199FD-11C8-55D1-D40E-0EF4C9EB2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8424590" cy="504056"/>
          </a:xfrm>
        </p:spPr>
        <p:txBody>
          <a:bodyPr/>
          <a:lstStyle/>
          <a:p>
            <a:r>
              <a:rPr lang="fr-FR" sz="2800" dirty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fr-FR" sz="2800" dirty="0" smtClean="0">
                <a:solidFill>
                  <a:schemeClr val="accent1">
                    <a:lumMod val="75000"/>
                  </a:schemeClr>
                </a:solidFill>
              </a:rPr>
              <a:t>. Modélisation 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</a:rPr>
              <a:t>de </a:t>
            </a:r>
            <a:r>
              <a:rPr lang="fr-FR" sz="2800" dirty="0" err="1">
                <a:solidFill>
                  <a:schemeClr val="accent1">
                    <a:lumMod val="75000"/>
                  </a:schemeClr>
                </a:solidFill>
              </a:rPr>
              <a:t>TotalGHGEmissions</a:t>
            </a:r>
            <a:endParaRPr lang="fr-FR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192935" y="747158"/>
            <a:ext cx="2758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Avec Feature importance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1327440"/>
            <a:ext cx="2531222" cy="23767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80" y="2469389"/>
            <a:ext cx="2657846" cy="24768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45" y="1758260"/>
            <a:ext cx="4416346" cy="287247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040" y="2819410"/>
            <a:ext cx="3841608" cy="226502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5736" y="5612217"/>
            <a:ext cx="5277252" cy="39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D6199FD-11C8-55D1-D40E-0EF4C9EB2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5112568" cy="476672"/>
          </a:xfrm>
        </p:spPr>
        <p:txBody>
          <a:bodyPr/>
          <a:lstStyle/>
          <a:p>
            <a:r>
              <a:rPr lang="fr-FR" sz="2000" dirty="0" smtClean="0">
                <a:solidFill>
                  <a:schemeClr val="accent1">
                    <a:lumMod val="75000"/>
                  </a:schemeClr>
                </a:solidFill>
              </a:rPr>
              <a:t>6. 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Modélisation de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TotalGHGEmissions</a:t>
            </a:r>
            <a:endParaRPr lang="fr-FR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779912" y="622343"/>
            <a:ext cx="2895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Avec SHAP </a:t>
            </a:r>
            <a:r>
              <a:rPr lang="fr-FR" dirty="0"/>
              <a:t>pour </a:t>
            </a:r>
            <a:r>
              <a:rPr lang="fr-FR" dirty="0" err="1"/>
              <a:t>XGBoost</a:t>
            </a:r>
            <a:endParaRPr lang="fr-FR" dirty="0"/>
          </a:p>
          <a:p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27" y="945508"/>
            <a:ext cx="4464496" cy="243853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308" y="2214542"/>
            <a:ext cx="3717511" cy="429749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2830" y="3595311"/>
            <a:ext cx="1957082" cy="276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6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D6199FD-11C8-55D1-D40E-0EF4C9EB2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2704"/>
            <a:ext cx="2232248" cy="762000"/>
          </a:xfrm>
        </p:spPr>
        <p:txBody>
          <a:bodyPr/>
          <a:lstStyle/>
          <a:p>
            <a:pPr algn="ctr"/>
            <a:r>
              <a:rPr lang="fr-FR" sz="2400" dirty="0" smtClean="0"/>
              <a:t>7. Conclusion</a:t>
            </a:r>
            <a:endParaRPr lang="fr-FR" sz="2400" dirty="0"/>
          </a:p>
        </p:txBody>
      </p:sp>
      <p:sp>
        <p:nvSpPr>
          <p:cNvPr id="2" name="Rectangle 1"/>
          <p:cNvSpPr/>
          <p:nvPr/>
        </p:nvSpPr>
        <p:spPr>
          <a:xfrm>
            <a:off x="899592" y="889844"/>
            <a:ext cx="763284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Georgia" panose="02040502050405020303" pitchFamily="18" charset="0"/>
              </a:rPr>
              <a:t>Prédiction réussie des émissions de CO2 et de la consommation d’énergie des bâtiments non destinés à l’habitation</a:t>
            </a:r>
            <a:r>
              <a:rPr lang="fr-FR" dirty="0" smtClean="0">
                <a:latin typeface="Georgia" panose="02040502050405020303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Georgia" panose="02040502050405020303" pitchFamily="18" charset="0"/>
              </a:rPr>
              <a:t>Le modèle </a:t>
            </a:r>
            <a:r>
              <a:rPr lang="fr-FR" dirty="0" err="1">
                <a:latin typeface="Georgia" panose="02040502050405020303" pitchFamily="18" charset="0"/>
              </a:rPr>
              <a:t>XGBoost</a:t>
            </a:r>
            <a:r>
              <a:rPr lang="fr-FR" dirty="0">
                <a:latin typeface="Georgia" panose="02040502050405020303" pitchFamily="18" charset="0"/>
              </a:rPr>
              <a:t> </a:t>
            </a:r>
            <a:r>
              <a:rPr lang="fr-FR" dirty="0" err="1">
                <a:latin typeface="Georgia" panose="02040502050405020303" pitchFamily="18" charset="0"/>
              </a:rPr>
              <a:t>Regressor</a:t>
            </a:r>
            <a:r>
              <a:rPr lang="fr-FR" dirty="0">
                <a:latin typeface="Georgia" panose="02040502050405020303" pitchFamily="18" charset="0"/>
              </a:rPr>
              <a:t> est le plus performant </a:t>
            </a:r>
            <a:endParaRPr lang="fr-FR" dirty="0" smtClean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Georgia" panose="02040502050405020303" pitchFamily="18" charset="0"/>
              </a:rPr>
              <a:t>Impact positif de l’</a:t>
            </a:r>
            <a:r>
              <a:rPr lang="fr-FR" dirty="0" err="1">
                <a:latin typeface="Georgia" panose="02040502050405020303" pitchFamily="18" charset="0"/>
              </a:rPr>
              <a:t>EnergyStarScore</a:t>
            </a:r>
            <a:r>
              <a:rPr lang="fr-FR" dirty="0">
                <a:latin typeface="Georgia" panose="02040502050405020303" pitchFamily="18" charset="0"/>
              </a:rPr>
              <a:t> sur ces prédictions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dirty="0" smtClean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smtClean="0">
                <a:latin typeface="Georgia" panose="02040502050405020303" pitchFamily="18" charset="0"/>
              </a:rPr>
              <a:t>L’utilisation </a:t>
            </a:r>
            <a:r>
              <a:rPr lang="fr-FR" dirty="0">
                <a:latin typeface="Georgia" panose="02040502050405020303" pitchFamily="18" charset="0"/>
              </a:rPr>
              <a:t>de </a:t>
            </a:r>
            <a:r>
              <a:rPr lang="fr-FR" dirty="0" err="1">
                <a:latin typeface="Georgia" panose="02040502050405020303" pitchFamily="18" charset="0"/>
              </a:rPr>
              <a:t>feature_importance</a:t>
            </a:r>
            <a:r>
              <a:rPr lang="fr-FR" dirty="0">
                <a:latin typeface="Georgia" panose="02040502050405020303" pitchFamily="18" charset="0"/>
              </a:rPr>
              <a:t> apporte des performances similaires au modèle </a:t>
            </a:r>
            <a:r>
              <a:rPr lang="fr-FR" dirty="0" smtClean="0">
                <a:latin typeface="Georgia" panose="02040502050405020303" pitchFamily="18" charset="0"/>
              </a:rPr>
              <a:t>initial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dirty="0" smtClean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smtClean="0">
                <a:latin typeface="Georgia" panose="02040502050405020303" pitchFamily="18" charset="0"/>
              </a:rPr>
              <a:t>L’utilisation </a:t>
            </a:r>
            <a:r>
              <a:rPr lang="fr-FR" dirty="0">
                <a:latin typeface="Georgia" panose="02040502050405020303" pitchFamily="18" charset="0"/>
              </a:rPr>
              <a:t>de SHAP conduit à une dégradation des performances du modèle</a:t>
            </a:r>
          </a:p>
        </p:txBody>
      </p:sp>
    </p:spTree>
    <p:extLst>
      <p:ext uri="{BB962C8B-B14F-4D97-AF65-F5344CB8AC3E}">
        <p14:creationId xmlns:p14="http://schemas.microsoft.com/office/powerpoint/2010/main" val="13776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D6199FD-11C8-55D1-D40E-0EF4C9EB2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7704" y="2780928"/>
            <a:ext cx="5328592" cy="906016"/>
          </a:xfrm>
        </p:spPr>
        <p:txBody>
          <a:bodyPr/>
          <a:lstStyle/>
          <a:p>
            <a:pPr algn="ctr"/>
            <a:r>
              <a:rPr lang="fr-FR" sz="2400" dirty="0" smtClean="0"/>
              <a:t>Merci pour votre attention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9987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">
  <a:themeElements>
    <a:clrScheme name="template 8">
      <a:dk1>
        <a:srgbClr val="4D4D4D"/>
      </a:dk1>
      <a:lt1>
        <a:srgbClr val="FFFFFF"/>
      </a:lt1>
      <a:dk2>
        <a:srgbClr val="4D4D4D"/>
      </a:dk2>
      <a:lt2>
        <a:srgbClr val="586888"/>
      </a:lt2>
      <a:accent1>
        <a:srgbClr val="9CA6BF"/>
      </a:accent1>
      <a:accent2>
        <a:srgbClr val="BCC3D3"/>
      </a:accent2>
      <a:accent3>
        <a:srgbClr val="FFFFFF"/>
      </a:accent3>
      <a:accent4>
        <a:srgbClr val="404040"/>
      </a:accent4>
      <a:accent5>
        <a:srgbClr val="CBD0DC"/>
      </a:accent5>
      <a:accent6>
        <a:srgbClr val="AAB0BF"/>
      </a:accent6>
      <a:hlink>
        <a:srgbClr val="D8DFE7"/>
      </a:hlink>
      <a:folHlink>
        <a:srgbClr val="DDDDDD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4D4D4D"/>
        </a:dk2>
        <a:lt2>
          <a:srgbClr val="11163C"/>
        </a:lt2>
        <a:accent1>
          <a:srgbClr val="212B53"/>
        </a:accent1>
        <a:accent2>
          <a:srgbClr val="364481"/>
        </a:accent2>
        <a:accent3>
          <a:srgbClr val="FFFFFF"/>
        </a:accent3>
        <a:accent4>
          <a:srgbClr val="404040"/>
        </a:accent4>
        <a:accent5>
          <a:srgbClr val="ABACB3"/>
        </a:accent5>
        <a:accent6>
          <a:srgbClr val="303D74"/>
        </a:accent6>
        <a:hlink>
          <a:srgbClr val="3E498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4D4D4D"/>
        </a:dk2>
        <a:lt2>
          <a:srgbClr val="0D254C"/>
        </a:lt2>
        <a:accent1>
          <a:srgbClr val="254B83"/>
        </a:accent1>
        <a:accent2>
          <a:srgbClr val="406DAA"/>
        </a:accent2>
        <a:accent3>
          <a:srgbClr val="FFFFFF"/>
        </a:accent3>
        <a:accent4>
          <a:srgbClr val="404040"/>
        </a:accent4>
        <a:accent5>
          <a:srgbClr val="ACB1C1"/>
        </a:accent5>
        <a:accent6>
          <a:srgbClr val="39629A"/>
        </a:accent6>
        <a:hlink>
          <a:srgbClr val="3267B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4D4D4D"/>
        </a:dk2>
        <a:lt2>
          <a:srgbClr val="363B45"/>
        </a:lt2>
        <a:accent1>
          <a:srgbClr val="A99D9B"/>
        </a:accent1>
        <a:accent2>
          <a:srgbClr val="565A66"/>
        </a:accent2>
        <a:accent3>
          <a:srgbClr val="FFFFFF"/>
        </a:accent3>
        <a:accent4>
          <a:srgbClr val="404040"/>
        </a:accent4>
        <a:accent5>
          <a:srgbClr val="D1CCCB"/>
        </a:accent5>
        <a:accent6>
          <a:srgbClr val="4D515C"/>
        </a:accent6>
        <a:hlink>
          <a:srgbClr val="92715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4D4D4D"/>
        </a:dk2>
        <a:lt2>
          <a:srgbClr val="2E3236"/>
        </a:lt2>
        <a:accent1>
          <a:srgbClr val="B26920"/>
        </a:accent1>
        <a:accent2>
          <a:srgbClr val="6F7F8D"/>
        </a:accent2>
        <a:accent3>
          <a:srgbClr val="FFFFFF"/>
        </a:accent3>
        <a:accent4>
          <a:srgbClr val="404040"/>
        </a:accent4>
        <a:accent5>
          <a:srgbClr val="D5B9AB"/>
        </a:accent5>
        <a:accent6>
          <a:srgbClr val="64727F"/>
        </a:accent6>
        <a:hlink>
          <a:srgbClr val="EEC72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4D4D4D"/>
        </a:dk2>
        <a:lt2>
          <a:srgbClr val="2E3236"/>
        </a:lt2>
        <a:accent1>
          <a:srgbClr val="9BB6EE"/>
        </a:accent1>
        <a:accent2>
          <a:srgbClr val="6F7F8D"/>
        </a:accent2>
        <a:accent3>
          <a:srgbClr val="FFFFFF"/>
        </a:accent3>
        <a:accent4>
          <a:srgbClr val="404040"/>
        </a:accent4>
        <a:accent5>
          <a:srgbClr val="CBD7F5"/>
        </a:accent5>
        <a:accent6>
          <a:srgbClr val="64727F"/>
        </a:accent6>
        <a:hlink>
          <a:srgbClr val="84AAF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4D4D4D"/>
        </a:dk2>
        <a:lt2>
          <a:srgbClr val="40494F"/>
        </a:lt2>
        <a:accent1>
          <a:srgbClr val="6D7D8A"/>
        </a:accent1>
        <a:accent2>
          <a:srgbClr val="A7A7A7"/>
        </a:accent2>
        <a:accent3>
          <a:srgbClr val="FFFFFF"/>
        </a:accent3>
        <a:accent4>
          <a:srgbClr val="404040"/>
        </a:accent4>
        <a:accent5>
          <a:srgbClr val="BABFC4"/>
        </a:accent5>
        <a:accent6>
          <a:srgbClr val="979797"/>
        </a:accent6>
        <a:hlink>
          <a:srgbClr val="7F7F7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4D4D4D"/>
        </a:dk2>
        <a:lt2>
          <a:srgbClr val="454D52"/>
        </a:lt2>
        <a:accent1>
          <a:srgbClr val="7D8B97"/>
        </a:accent1>
        <a:accent2>
          <a:srgbClr val="CBCBCB"/>
        </a:accent2>
        <a:accent3>
          <a:srgbClr val="FFFFFF"/>
        </a:accent3>
        <a:accent4>
          <a:srgbClr val="404040"/>
        </a:accent4>
        <a:accent5>
          <a:srgbClr val="BFC4C9"/>
        </a:accent5>
        <a:accent6>
          <a:srgbClr val="B8B8B8"/>
        </a:accent6>
        <a:hlink>
          <a:srgbClr val="5158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4D4D4D"/>
        </a:dk2>
        <a:lt2>
          <a:srgbClr val="586888"/>
        </a:lt2>
        <a:accent1>
          <a:srgbClr val="9CA6BF"/>
        </a:accent1>
        <a:accent2>
          <a:srgbClr val="BCC3D3"/>
        </a:accent2>
        <a:accent3>
          <a:srgbClr val="FFFFFF"/>
        </a:accent3>
        <a:accent4>
          <a:srgbClr val="404040"/>
        </a:accent4>
        <a:accent5>
          <a:srgbClr val="CBD0DC"/>
        </a:accent5>
        <a:accent6>
          <a:srgbClr val="AAB0BF"/>
        </a:accent6>
        <a:hlink>
          <a:srgbClr val="D8DFE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12491</TotalTime>
  <Words>527</Words>
  <Application>Microsoft Office PowerPoint</Application>
  <PresentationFormat>Affichage à l'écran (4:3)</PresentationFormat>
  <Paragraphs>90</Paragraphs>
  <Slides>26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Arial</vt:lpstr>
      <vt:lpstr>Georgia</vt:lpstr>
      <vt:lpstr>Tahoma</vt:lpstr>
      <vt:lpstr>Wingdings</vt:lpstr>
      <vt:lpstr>template</vt:lpstr>
      <vt:lpstr>Anticipez les besoins en consommation de bâtiments Projet 4</vt:lpstr>
      <vt:lpstr>SOMMAIRE</vt:lpstr>
      <vt:lpstr>1. Problématique</vt:lpstr>
      <vt:lpstr>2. Présentation du jeu de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Analyses bivariées :  Consommation d'énergie</vt:lpstr>
      <vt:lpstr>Présentation PowerPoint</vt:lpstr>
      <vt:lpstr>Présentation PowerPoint</vt:lpstr>
      <vt:lpstr>Présentation PowerPoint</vt:lpstr>
      <vt:lpstr>5. Modélisation de SiteEnergyUseWN(kBtu)</vt:lpstr>
      <vt:lpstr>5. Modélisation de SiteEnergyUseWN(kBtu)</vt:lpstr>
      <vt:lpstr>Présentation PowerPoint</vt:lpstr>
      <vt:lpstr>Présentation PowerPoint</vt:lpstr>
      <vt:lpstr>6. Modélisation de TotalGHGEmissions</vt:lpstr>
      <vt:lpstr>6. Modélisation de TotalGHGEmissions</vt:lpstr>
      <vt:lpstr>7. Conclusion</vt:lpstr>
      <vt:lpstr>Merci pour votre attention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PoweredTemplates.com</dc:creator>
  <cp:lastModifiedBy>Stephane LEFEBVRE</cp:lastModifiedBy>
  <cp:revision>82</cp:revision>
  <dcterms:created xsi:type="dcterms:W3CDTF">2006-06-13T13:38:55Z</dcterms:created>
  <dcterms:modified xsi:type="dcterms:W3CDTF">2025-03-14T11:09:59Z</dcterms:modified>
</cp:coreProperties>
</file>